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292608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True Innovation Launchpad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58968" y="68580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58968" y="71323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latin typeface="Calibri"/>
              </a:rPr>
              <a:t>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445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mbria"/>
              </a:rPr>
              <a:t>EpiGlass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D9E75"/>
                </a:solidFill>
                <a:latin typeface="Calibri"/>
              </a:rPr>
              <a:t>รู้อายุจริงของร่างกาย ก่อนโรคจะบอกคุณเอง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520440"/>
            <a:ext cx="7616952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Biological Clock  +  Simulation  +  Disease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ใช้ค่าเลือดพื้นฐาน 9 ตัว — ไม่ต้องตรวจพิเศษ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อิงงานวิจัย Levine et al. — Validated บน NHANES 2,531 ราย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309360"/>
            <a:ext cx="1828800" cy="292608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Track: Preventing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6309360"/>
            <a:ext cx="1828800" cy="292608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True LAB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2A"/>
                </a:solidFill>
                <a:latin typeface="Cambria"/>
              </a:rPr>
              <a:t>Pain Point — Real 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371600" cy="292608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PAIN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D1B2A"/>
                </a:solidFill>
                <a:latin typeface="Cambria"/>
              </a:rPr>
              <a:t>"คุณพ่ออายุ 67 ตรวจเลือดทุกปี หมอบอก ปกติ
จนปีที่แล้วหมอบอกว่า เบาหวานระยะมีภาวะแทรกซ้อนแล้ว
ทั้งที่สัญญาณซ่อนอยู่ในผลเลือดมานาน 3 ปี
แต่ไม่มีใครอ่านออก"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FAECE7"/>
          </a:solidFill>
          <a:ln w="1270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95020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993C1D"/>
                </a:solidFill>
                <a:latin typeface="Calibri"/>
              </a:rPr>
              <a:t>สัญญาณเตือนมีอยู่แล้ว — แต่ไม่มีใครแปลได้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05840"/>
            <a:ext cx="2606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7899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Cambria"/>
              </a:rPr>
              <a:t>12M+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ผู้สูงวัยตรวจเลือดปีละครั้ง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005840"/>
            <a:ext cx="2606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107899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Cambria"/>
              </a:rPr>
              <a:t>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5087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ไม่เข้าใจผลเลือดตัวเอง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514600"/>
            <a:ext cx="2606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58775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Cambria"/>
              </a:rPr>
              <a:t>3-5 ปี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175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ช่องว่างก่อนวินิจฉัยได้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514600"/>
            <a:ext cx="2606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58775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Cambria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0175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เครื่องมือ Early Warning ในไทย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2A"/>
                </a:solidFill>
                <a:latin typeface="Cambria"/>
              </a:rPr>
              <a:t>Target Customer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52044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00200" y="1325880"/>
            <a:ext cx="1234440" cy="868680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1353312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60+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mbria"/>
              </a:rPr>
              <a:t>ผู้สูงวัย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F5E5A"/>
                </a:solidFill>
                <a:latin typeface="Calibri"/>
              </a:rPr>
              <a:t>มีผลแล็บอยู่แล้ว แต่อ่านไม่ออก
อยากรู้ว่าร่างกายจริง ๆ เป็นยังไง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97280"/>
            <a:ext cx="352044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49240" y="1325880"/>
            <a:ext cx="1234440" cy="868680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353312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FAM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7744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mbria"/>
              </a:rPr>
              <a:t>ลูกหลาน / ผู้ดูแล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971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F5E5A"/>
                </a:solidFill>
                <a:latin typeface="Calibri"/>
              </a:rPr>
              <a:t>กังวลเรื่องสุขภาพพ่อแม่
อยากมีข้อมูลก่อนไปหาหมอ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097280"/>
            <a:ext cx="352044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98280" y="1325880"/>
            <a:ext cx="1234440" cy="868680"/>
          </a:xfrm>
          <a:prstGeom prst="roundRect">
            <a:avLst>
              <a:gd name="adj" fmla="val 5000"/>
            </a:avLst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353312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37744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mbria"/>
              </a:rPr>
              <a:t>Clinician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971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F5E5A"/>
                </a:solidFill>
                <a:latin typeface="Calibri"/>
              </a:rPr>
              <a:t>ต้องการ Longitudinal Data ของผู้ป่วย
ไม่ใช่แค่ Snapshot รายปี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2A"/>
                </a:solidFill>
                <a:latin typeface="Cambria"/>
              </a:rPr>
              <a:t>Pain Point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4552" cy="1188720"/>
          </a:xfrm>
          <a:prstGeom prst="roundRect">
            <a:avLst>
              <a:gd name="adj" fmla="val 5000"/>
            </a:avLst>
          </a:prstGeom>
          <a:solidFill>
            <a:srgbClr val="FAECE7"/>
          </a:solidFill>
          <a:ln w="1270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39"/>
            <a:ext cx="822960" cy="822960"/>
          </a:xfrm>
          <a:prstGeom prst="roundRect">
            <a:avLst>
              <a:gd name="adj" fmla="val 5000"/>
            </a:avLst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52728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143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93C1D"/>
                </a:solidFill>
                <a:latin typeface="Cambria"/>
              </a:rPr>
              <a:t>Healthspan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81912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คนไทยมีอายุยืนขึ้น แต่ 9-10 ปีสุดท้ายอยู่กับโรคเรื้อรัง พึ่งพาลูกหลาน หรือนอนติดเตียง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4552" cy="1188720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 w="12700">
            <a:solidFill>
              <a:srgbClr val="854F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822960" cy="822960"/>
          </a:xfrm>
          <a:prstGeom prst="roundRect">
            <a:avLst>
              <a:gd name="adj" fmla="val 5000"/>
            </a:avLst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70048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60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54F0B"/>
                </a:solidFill>
                <a:latin typeface="Cambria"/>
              </a:rPr>
              <a:t>Longevity Tech Barrier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99232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การตรวจ Biological Age มีอยู่แล้ว แต่ราคาหลักหมื่น-แสน คนทั่วไปเข้าไม่ถึง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86200"/>
            <a:ext cx="11274552" cy="1188720"/>
          </a:xfrm>
          <a:prstGeom prst="roundRect">
            <a:avLst>
              <a:gd name="adj" fmla="val 5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822960" cy="822960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87368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776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34AB7"/>
                </a:solidFill>
                <a:latin typeface="Cambria"/>
              </a:rPr>
              <a:t>Wasted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16552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ผลตรวจเลือดประจำปีถูกทิ้งไว้ในตู้ เพราะอ่านไม่ออก กว่าจะรู้ตัวก็ป่วยเป็นโรคเรื้อรังแล้ว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94960"/>
            <a:ext cx="11274552" cy="68580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50468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D9E75"/>
                </a:solidFill>
                <a:latin typeface="Calibri"/>
              </a:rPr>
              <a:t>Healthy Longevity ที่แท้จริง = ยืด Healthspan ให้ยาวเท่า Lifespan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2A"/>
                </a:solidFill>
                <a:latin typeface="Cambria"/>
              </a:rPr>
              <a:t>Market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606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Cambria"/>
              </a:rPr>
              <a:t>$1.6B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Digital Health ไทย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097280"/>
            <a:ext cx="2606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117043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Cambria"/>
              </a:rPr>
              <a:t>$9.5B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002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เป้าหมายปี 2030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39"/>
            <a:ext cx="2606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79191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Cambria"/>
              </a:rPr>
              <a:t>29.1%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59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CAGR Telehealth ไทย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606039"/>
            <a:ext cx="2606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679191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Cambria"/>
              </a:rPr>
              <a:t>18.65%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108959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CAGR Healthcare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0058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mbria"/>
              </a:rPr>
              <a:t>Competitor Landscape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600200"/>
            <a:ext cx="603504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6733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TrueDiagnostic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6733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DNA methylation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1673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แพงมาก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2606040"/>
            <a:ext cx="603504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26791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Functional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6791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160+ biomarkers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679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ไม่มีในไทย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3611880"/>
            <a:ext cx="603504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36850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Hundred 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6850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Blood panels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685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ตลาด US เท่านั้น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4617720"/>
            <a:ext cx="6035040" cy="82296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6440" y="46908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9E75"/>
                </a:solidFill>
                <a:latin typeface="Calibri"/>
              </a:rPr>
              <a:t>★ EpiGlass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6908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9E75"/>
                </a:solidFill>
                <a:latin typeface="Calibri"/>
              </a:rPr>
              <a:t>9 ค่าเลือดพื้นฐาน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4690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9E75"/>
                </a:solidFill>
                <a:latin typeface="Calibri"/>
              </a:rPr>
              <a:t>ราคาเข้าถึงได้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2A"/>
                </a:solidFill>
                <a:latin typeface="Cambria"/>
              </a:rPr>
              <a:t>Focus Area &amp;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2011680" cy="292608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Track: Preventing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411480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Phenotypic Age
Calculator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2A"/>
                </a:solidFill>
                <a:latin typeface="Calibri"/>
              </a:rPr>
              <a:t>คำนวณอายุชีวภาพจากค่าเลือด 9 ตัว
ด้วย Levine Formula (2018)
Validated บน NHANES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097280"/>
            <a:ext cx="3657600" cy="411480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Virtual Bio-Trial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2A"/>
                </a:solidFill>
                <a:latin typeface="Calibri"/>
              </a:rPr>
              <a:t>RAG + LLM ดึงงานวิจัย PubMed
Simulate พฤติกรรมที่อยากลอง
ก่อนเปลี่ยนชีวิตจริง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097280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 w="12700">
            <a:solidFill>
              <a:srgbClr val="854F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1097280"/>
            <a:ext cx="3657600" cy="411480"/>
          </a:xfrm>
          <a:prstGeom prst="roundRect">
            <a:avLst>
              <a:gd name="adj" fmla="val 5000"/>
            </a:avLst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11887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Disease Risk
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16916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2A"/>
                </a:solidFill>
                <a:latin typeface="Calibri"/>
              </a:rPr>
              <a:t>ทำนายความเสี่ยง เบาหวาน
ความดัน โรคหัวใจ 5-10 ปี
บน ML AUC 0.88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064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34AB7"/>
                </a:solidFill>
                <a:latin typeface="Calibri"/>
              </a:rPr>
              <a:t>💡 Unique Point: ไม่ได้แค่บอกคะแนน — Simulate อนาคตได้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2A"/>
                </a:solidFill>
                <a:latin typeface="Cambria"/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09728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ED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1234440"/>
            <a:ext cx="566928" cy="566928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61872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9202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mbria"/>
              </a:rPr>
              <a:t>ถ่ายรูปผลแล็บ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56032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F5E5A"/>
                </a:solidFill>
                <a:latin typeface="Calibri"/>
              </a:rPr>
              <a:t>OCR +
AI Parser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24231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9E75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09728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ED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19272" y="1234440"/>
            <a:ext cx="566928" cy="566928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1261872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19202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mbria"/>
              </a:rPr>
              <a:t>PhenoAge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256032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F5E5A"/>
                </a:solidFill>
                <a:latin typeface="Calibri"/>
              </a:rPr>
              <a:t>Levine
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231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9E75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55464" y="109728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ED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86984" y="1234440"/>
            <a:ext cx="566928" cy="566928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6984" y="1261872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904" y="19202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mbria"/>
              </a:rPr>
              <a:t>Virtual Bio-Trial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6904" y="256032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F5E5A"/>
                </a:solidFill>
                <a:latin typeface="Calibri"/>
              </a:rPr>
              <a:t>RAG + PubMed
+ 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24231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9E75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3176" y="109728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ED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54696" y="1234440"/>
            <a:ext cx="566928" cy="566928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6" y="1261872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4616" y="19202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mbria"/>
              </a:rPr>
              <a:t>Digital Twin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4616" y="256032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F5E5A"/>
                </a:solidFill>
                <a:latin typeface="Calibri"/>
              </a:rPr>
              <a:t>Simulate
อนาคต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24231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9E75"/>
                </a:solidFill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90888" y="109728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ED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122408" y="1234440"/>
            <a:ext cx="566928" cy="566928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22408" y="1261872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2328" y="19202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mbria"/>
              </a:rPr>
              <a:t>6 Pillars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2328" y="256032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F5E5A"/>
                </a:solidFill>
                <a:latin typeface="Calibri"/>
              </a:rPr>
              <a:t>แผนปรับ
พฤติกรรม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4663440"/>
            <a:ext cx="11548872" cy="914400"/>
          </a:xfrm>
          <a:prstGeom prst="roundRect">
            <a:avLst>
              <a:gd name="adj" fmla="val 5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36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4AB7"/>
                </a:solidFill>
                <a:latin typeface="Calibri"/>
              </a:rPr>
              <a:t>True Ecosystem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20640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2A"/>
                </a:solidFill>
                <a:latin typeface="Calibri"/>
              </a:rPr>
              <a:t>MorDee (หมอดี)  |  TrueID  |  TrueX Smart Home  |  True Digital 5G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2A"/>
                </a:solidFill>
                <a:latin typeface="Cambria"/>
              </a:rPr>
              <a:t>Why Trust Us — ML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D9E75"/>
                </a:solidFill>
                <a:latin typeface="Cambria"/>
              </a:rPr>
              <a:t>AUC 0.8827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2A"/>
                </a:solidFill>
                <a:latin typeface="Cambria"/>
              </a:rPr>
              <a:t>Elastic Net — Best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5E5A"/>
                </a:solidFill>
                <a:latin typeface="Calibri"/>
              </a:rPr>
              <a:t>vs Levine Gold Standard: AUC 0.6754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4612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9E75"/>
                </a:solidFill>
                <a:latin typeface="Calibri"/>
              </a:rPr>
              <a:t>p = 0.0004  —  Statistically Significant 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77639"/>
            <a:ext cx="1600200" cy="1280160"/>
          </a:xfrm>
          <a:prstGeom prst="roundRect">
            <a:avLst>
              <a:gd name="adj" fmla="val 5000"/>
            </a:avLst>
          </a:prstGeom>
          <a:solidFill>
            <a:srgbClr val="F8F8F6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Cambria"/>
              </a:rPr>
              <a:t>0.0362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7200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F5E5A"/>
                </a:solidFill>
                <a:latin typeface="Calibri"/>
              </a:rPr>
              <a:t>Brier Score
(XGBoost)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3977639"/>
            <a:ext cx="1600200" cy="1280160"/>
          </a:xfrm>
          <a:prstGeom prst="roundRect">
            <a:avLst>
              <a:gd name="adj" fmla="val 5000"/>
            </a:avLst>
          </a:prstGeom>
          <a:solidFill>
            <a:srgbClr val="F8F8F6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40690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Cambria"/>
              </a:rPr>
              <a:t>2,531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79" y="457200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F5E5A"/>
                </a:solidFill>
                <a:latin typeface="Calibri"/>
              </a:rPr>
              <a:t>NHANES 2015-2016
ราย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3977639"/>
            <a:ext cx="1600200" cy="1280160"/>
          </a:xfrm>
          <a:prstGeom prst="roundRect">
            <a:avLst>
              <a:gd name="adj" fmla="val 5000"/>
            </a:avLst>
          </a:prstGeom>
          <a:solidFill>
            <a:srgbClr val="F8F8F6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59" y="40690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Cambria"/>
              </a:rPr>
              <a:t>3/3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57200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F5E5A"/>
                </a:solidFill>
                <a:latin typeface="Calibri"/>
              </a:rPr>
              <a:t>โมเดลชนะ
Levine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051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mbria"/>
              </a:rPr>
              <a:t>Model Comparison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0020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Levine PhenoAge (baseline)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691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1B2A"/>
                </a:solidFill>
                <a:latin typeface="Cambria"/>
              </a:rPr>
              <a:t>0.6754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1691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B2A"/>
                </a:solidFill>
                <a:latin typeface="Calibri"/>
              </a:rP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56032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651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9E75"/>
                </a:solidFill>
                <a:latin typeface="Calibri"/>
              </a:rPr>
              <a:t>★ Elastic 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9E75"/>
                </a:solidFill>
                <a:latin typeface="Cambria"/>
              </a:rPr>
              <a:t>0.8827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D9E75"/>
                </a:solidFill>
                <a:latin typeface="Calibri"/>
              </a:rPr>
              <a:t>p=0.0004 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52044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XGBoost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611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1B2A"/>
                </a:solidFill>
                <a:latin typeface="Cambria"/>
              </a:rPr>
              <a:t>0.8457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B2A"/>
                </a:solidFill>
                <a:latin typeface="Calibri"/>
              </a:rPr>
              <a:t>p=0.0098 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48056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572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Random Forest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572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1B2A"/>
                </a:solidFill>
                <a:latin typeface="Cambria"/>
              </a:rPr>
              <a:t>0.8338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57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B2A"/>
                </a:solidFill>
                <a:latin typeface="Calibri"/>
              </a:rPr>
              <a:t>p=0.0213 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394960"/>
            <a:ext cx="11274552" cy="685800"/>
          </a:xfrm>
          <a:prstGeom prst="roundRect">
            <a:avLst>
              <a:gd name="adj" fmla="val 5000"/>
            </a:avLst>
          </a:prstGeom>
          <a:solidFill>
            <a:srgbClr val="FAECE7"/>
          </a:solidFill>
          <a:ln w="1270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0468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93C1D"/>
                </a:solidFill>
                <a:latin typeface="Calibri"/>
              </a:rPr>
              <a:t>ไม่ได้แค่เอาสูตรมาใช้ — เรา Validate บน Real Data แล้ว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2A"/>
                </a:solidFill>
                <a:latin typeface="Cambria"/>
              </a:rPr>
              <a:t>Business Model &amp; Revenue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411480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B2C Freemium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2A"/>
                </a:solidFill>
                <a:latin typeface="Calibri"/>
              </a:rPr>
              <a:t>Premium 199 บ./เดือน
x 1% ของ True 30M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274320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34AB7"/>
                </a:solidFill>
                <a:latin typeface="Cambria"/>
              </a:rPr>
              <a:t>~600M บ./ปี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97280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097280"/>
            <a:ext cx="3657600" cy="411480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17043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B2B โรงพยาบาล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2A"/>
                </a:solidFill>
                <a:latin typeface="Calibri"/>
              </a:rPr>
              <a:t>License 50K บ./เดือน
x 100 โรงพยาบาล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3474720"/>
            <a:ext cx="274320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3566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9E75"/>
                </a:solidFill>
                <a:latin typeface="Cambria"/>
              </a:rPr>
              <a:t>~60M บ./ปี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97280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 w="12700">
            <a:solidFill>
              <a:srgbClr val="854F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1097280"/>
            <a:ext cx="3657600" cy="411480"/>
          </a:xfrm>
          <a:prstGeom prst="roundRect">
            <a:avLst>
              <a:gd name="adj" fmla="val 5000"/>
            </a:avLst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17043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Data Partnership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16916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2A"/>
                </a:solidFill>
                <a:latin typeface="Calibri"/>
              </a:rPr>
              <a:t>Anonymized Health Data
ให้บริษัทประกัน + Research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3474720"/>
            <a:ext cx="274320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54F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3566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54F0B"/>
                </a:solidFill>
                <a:latin typeface="Cambria"/>
              </a:rPr>
              <a:t>TBD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69280"/>
            <a:ext cx="11274552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7790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Conservative Estimate: ~660M+ บาท / ปี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2A"/>
                </a:solidFill>
                <a:latin typeface="Cambria"/>
              </a:rPr>
              <a:t>Opportunity for True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F5E5A"/>
                </a:solidFill>
                <a:latin typeface="Calibri"/>
              </a:rPr>
              <a:t>EpiGlass Plug-in เข้ากับทุก Product ในเครือ True ได้ทันที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440680" cy="155448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9E75"/>
                </a:solidFill>
                <a:latin typeface="Cambria"/>
              </a:rPr>
              <a:t>MorDee (หมอดี)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ส่งต่อพบแพทย์จริงเมื่อ AI พบความเสี่ยงสูง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2011680"/>
            <a:ext cx="1600200" cy="292608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Telemedicine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40680" cy="1554480"/>
          </a:xfrm>
          <a:prstGeom prst="roundRect">
            <a:avLst>
              <a:gd name="adj" fmla="val 5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34AB7"/>
                </a:solidFill>
                <a:latin typeface="Cambria"/>
              </a:rPr>
              <a:t>TrueID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Login ครั้งเดียว เชื่อมประวัติสุขภาพส่วนบุคคล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2011680"/>
            <a:ext cx="1600200" cy="292608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Digital Identity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46120"/>
            <a:ext cx="5440680" cy="1554480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 w="12700">
            <a:solidFill>
              <a:srgbClr val="854F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54F0B"/>
                </a:solidFill>
                <a:latin typeface="Cambria"/>
              </a:rPr>
              <a:t>TrueX Smart 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59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ดึงข้อมูลพฤติกรรมในบ้านเสริม Simulation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3840480"/>
            <a:ext cx="1600200" cy="292608"/>
          </a:xfrm>
          <a:prstGeom prst="roundRect">
            <a:avLst>
              <a:gd name="adj" fmla="val 5000"/>
            </a:avLst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IoT &amp; Behavior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46120"/>
            <a:ext cx="5440680" cy="1554480"/>
          </a:xfrm>
          <a:prstGeom prst="roundRect">
            <a:avLst>
              <a:gd name="adj" fmla="val 5000"/>
            </a:avLst>
          </a:prstGeom>
          <a:solidFill>
            <a:srgbClr val="D6EAFC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34AB7"/>
                </a:solidFill>
                <a:latin typeface="Cambria"/>
              </a:rPr>
              <a:t>True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59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ประมวลผล RAG+LLM บน 5G Edge Computing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3840480"/>
            <a:ext cx="1600200" cy="292608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Cloud &amp; 5G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74920"/>
            <a:ext cx="11274552" cy="1554480"/>
          </a:xfrm>
          <a:prstGeom prst="roundRect">
            <a:avLst>
              <a:gd name="adj" fmla="val 5000"/>
            </a:avLst>
          </a:prstGeom>
          <a:solidFill>
            <a:srgbClr val="EAF3DE"/>
          </a:solidFill>
          <a:ln w="1270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66359"/>
            <a:ext cx="10817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6D11"/>
                </a:solidFill>
                <a:latin typeface="Cambria"/>
              </a:rPr>
              <a:t>TrueMove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23559"/>
            <a:ext cx="8988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แจกจ่ายผ่าน 30M+ users ไม่ต้องสร้าง Channel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02952" y="5669280"/>
            <a:ext cx="1600200" cy="292608"/>
          </a:xfrm>
          <a:prstGeom prst="roundRect">
            <a:avLst>
              <a:gd name="adj" fmla="val 5000"/>
            </a:avLst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Distribution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400800"/>
            <a:ext cx="11274552" cy="365760"/>
          </a:xfrm>
          <a:prstGeom prst="roundRect">
            <a:avLst>
              <a:gd name="adj" fmla="val 5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34AB7"/>
                </a:solidFill>
                <a:latin typeface="Calibri"/>
              </a:rPr>
              <a:t>True กลายเป็น Infrastructure ของ Healthy Longevity ในไทย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2A"/>
                </a:solidFill>
                <a:latin typeface="Cambria"/>
              </a:rPr>
              <a:t>Expected Benefit &amp;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D9E75"/>
                </a:solidFill>
                <a:latin typeface="Cambria"/>
              </a:rPr>
              <a:t>ผลต่อผู้ใช้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594360" cy="594360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842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2024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ยืด Healthspan — มีปีที่สุขภาพดีเพิ่มขึ้น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3474720"/>
            <a:ext cx="594360" cy="594360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9300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42900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เห็น Risk ล่วงหน้า 3-5 ปีก่อนป่วย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4983479"/>
            <a:ext cx="594360" cy="594360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00176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937759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ปรับพฤติกรรมได้จาก Simulation จริง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051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34AB7"/>
                </a:solidFill>
                <a:latin typeface="Cambria"/>
              </a:rPr>
              <a:t>ผลต่อสังคมและ True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4592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1965960"/>
            <a:ext cx="594360" cy="594360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9842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192024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เท่าเทียมด้าน Longevity Tech ราคาเข้าถึงได้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15468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3474720"/>
            <a:ext cx="594360" cy="594360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49300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42900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ลดภาระระบบสาธารณสุขจากโรคเรื้อรัง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66344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37960" y="4983479"/>
            <a:ext cx="594360" cy="594360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500176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937759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National Health Dataset มูลค่าสูงสำหรับ True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2A"/>
                </a:solidFill>
                <a:latin typeface="Cambria"/>
              </a:rPr>
              <a:t>Go To Market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2044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20440" cy="548640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43584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Phase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920240"/>
            <a:ext cx="1828800" cy="292608"/>
          </a:xfrm>
          <a:prstGeom prst="roundRect">
            <a:avLst>
              <a:gd name="adj" fmla="val 5000"/>
            </a:avLst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0-6 เดือน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9E75"/>
                </a:solidFill>
                <a:latin typeface="Cambria"/>
              </a:rPr>
              <a:t>Beta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EpiGlass บน True App
B2C ฟรี สร้าง User 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2971800" cy="685800"/>
          </a:xfrm>
          <a:prstGeom prst="roundRect">
            <a:avLst>
              <a:gd name="adj" fmla="val 5000"/>
            </a:avLst>
          </a:prstGeom>
          <a:solidFill>
            <a:srgbClr val="F8F8F6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9E75"/>
                </a:solidFill>
                <a:latin typeface="Calibri"/>
              </a:rPr>
              <a:t>🎯 10,000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188720"/>
            <a:ext cx="352044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33672" y="1188720"/>
            <a:ext cx="3520440" cy="548640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243584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Phase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6632" y="1920240"/>
            <a:ext cx="1828800" cy="292608"/>
          </a:xfrm>
          <a:prstGeom prst="roundRect">
            <a:avLst>
              <a:gd name="adj" fmla="val 5000"/>
            </a:avLst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6-18 เดือน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4231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34AB7"/>
                </a:solidFill>
                <a:latin typeface="Cambria"/>
              </a:rPr>
              <a:t>B2B 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0632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โรงพยาบาลในเครือ True
+ บริษัทประกัน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7992" y="4846320"/>
            <a:ext cx="2971800" cy="685800"/>
          </a:xfrm>
          <a:prstGeom prst="roundRect">
            <a:avLst>
              <a:gd name="adj" fmla="val 5000"/>
            </a:avLst>
          </a:prstGeom>
          <a:solidFill>
            <a:srgbClr val="F8F8F6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493776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34AB7"/>
                </a:solidFill>
                <a:latin typeface="Calibri"/>
              </a:rPr>
              <a:t>🎯 50 โรงพยาบาล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188720"/>
            <a:ext cx="352044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54F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10144" y="1188720"/>
            <a:ext cx="3520440" cy="548640"/>
          </a:xfrm>
          <a:prstGeom prst="roundRect">
            <a:avLst>
              <a:gd name="adj" fmla="val 5000"/>
            </a:avLst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3" y="1243584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Phase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33104" y="1920240"/>
            <a:ext cx="1828800" cy="292608"/>
          </a:xfrm>
          <a:prstGeom prst="roundRect">
            <a:avLst>
              <a:gd name="adj" fmla="val 5000"/>
            </a:avLst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18+ เดือน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24231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54F0B"/>
                </a:solidFill>
                <a:latin typeface="Cambria"/>
              </a:rPr>
              <a:t>National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3" y="30632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ขยายทั่วประเทศผ่าน
TrueMove H + สปสช.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4464" y="4846320"/>
            <a:ext cx="2971800" cy="685800"/>
          </a:xfrm>
          <a:prstGeom prst="roundRect">
            <a:avLst>
              <a:gd name="adj" fmla="val 5000"/>
            </a:avLst>
          </a:prstGeom>
          <a:solidFill>
            <a:srgbClr val="F8F8F6"/>
          </a:solidFill>
          <a:ln w="12700">
            <a:solidFill>
              <a:srgbClr val="854F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493776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54F0B"/>
                </a:solidFill>
                <a:latin typeface="Calibri"/>
              </a:rPr>
              <a:t>🎯 1M+ users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2A"/>
                </a:solidFill>
                <a:latin typeface="Cambria"/>
              </a:rPr>
              <a:t>Roadmap &amp; Timeline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88920"/>
            <a:ext cx="11274552" cy="109728"/>
          </a:xfrm>
          <a:prstGeom prst="roundRect">
            <a:avLst>
              <a:gd name="adj" fmla="val 5000"/>
            </a:avLst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" y="2606039"/>
            <a:ext cx="411480" cy="411480"/>
          </a:xfrm>
          <a:prstGeom prst="roundRect">
            <a:avLst>
              <a:gd name="adj" fmla="val 5000"/>
            </a:avLst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624327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  <a:latin typeface="Calibri"/>
              </a:rPr>
              <a:t>ส.ค. 69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39"/>
            <a:ext cx="17830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5F5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  <a:latin typeface="Calibri"/>
              </a:rPr>
              <a:t>Innovation
Bootcamp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606039"/>
            <a:ext cx="411480" cy="411480"/>
          </a:xfrm>
          <a:prstGeom prst="roundRect">
            <a:avLst>
              <a:gd name="adj" fmla="val 5000"/>
            </a:avLst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624327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6459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  <a:latin typeface="Calibri"/>
              </a:rPr>
              <a:t>ก.ย. 69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3291839"/>
            <a:ext cx="17830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5F5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34290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  <a:latin typeface="Calibri"/>
              </a:rPr>
              <a:t>Prototype
Development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2606039"/>
            <a:ext cx="411480" cy="411480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624327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9E75"/>
                </a:solidFill>
                <a:latin typeface="Calibri"/>
              </a:rPr>
              <a:t>ต.ค. 69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291839"/>
            <a:ext cx="1783080" cy="164592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34290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9E75"/>
                </a:solidFill>
                <a:latin typeface="Calibri"/>
              </a:rPr>
              <a:t>Demo Web +
ML Pipeline 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7999" y="2606039"/>
            <a:ext cx="411480" cy="411480"/>
          </a:xfrm>
          <a:prstGeom prst="roundRect">
            <a:avLst>
              <a:gd name="adj" fmla="val 5000"/>
            </a:avLst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7999" y="2624327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16459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  <a:latin typeface="Calibri"/>
              </a:rPr>
              <a:t>พ.ย. 69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3291839"/>
            <a:ext cx="17830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5F5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19" y="34290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  <a:latin typeface="Calibri"/>
              </a:rPr>
              <a:t>User Testing
+ Feedback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2606039"/>
            <a:ext cx="411480" cy="411480"/>
          </a:xfrm>
          <a:prstGeom prst="roundRect">
            <a:avLst>
              <a:gd name="adj" fmla="val 5000"/>
            </a:avLst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624327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6459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54F0B"/>
                </a:solidFill>
                <a:latin typeface="Calibri"/>
              </a:rPr>
              <a:t>ธ.ค. 69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291839"/>
            <a:ext cx="1783080" cy="1645920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 w="12700">
            <a:solidFill>
              <a:srgbClr val="854F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4290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54F0B"/>
                </a:solidFill>
                <a:latin typeface="Calibri"/>
              </a:rPr>
              <a:t>Final
Pitching Day 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89920" y="2606039"/>
            <a:ext cx="411480" cy="411480"/>
          </a:xfrm>
          <a:prstGeom prst="roundRect">
            <a:avLst>
              <a:gd name="adj" fmla="val 5000"/>
            </a:avLst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0" y="2624327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16459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  <a:latin typeface="Calibri"/>
              </a:rPr>
              <a:t>ปี 70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7000" y="3291839"/>
            <a:ext cx="1783080" cy="1645920"/>
          </a:xfrm>
          <a:prstGeom prst="roundRect">
            <a:avLst>
              <a:gd name="adj" fmla="val 5000"/>
            </a:avLst>
          </a:prstGeom>
          <a:solidFill>
            <a:srgbClr val="EEEDFE"/>
          </a:solidFill>
          <a:ln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78440" y="34290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  <a:latin typeface="Calibri"/>
              </a:rPr>
              <a:t>Commercial
Launch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9E75"/>
                </a:solidFill>
                <a:latin typeface="Calibri"/>
              </a:rPr>
              <a:t>← เราอยู่ตรงนี้แล้ว: Demo Web + ML Pipeline ครบ (ต.ค. 69)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2A"/>
                </a:solidFill>
                <a:latin typeface="Cambria"/>
              </a:rPr>
              <a:t>Team Member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1143000"/>
            <a:ext cx="210312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" y="1371600"/>
            <a:ext cx="1234440" cy="1234440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41732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278892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mbria"/>
              </a:rPr>
              <a:t>ArunS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329184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34AB7"/>
                </a:solidFill>
                <a:latin typeface="Calibri"/>
              </a:rPr>
              <a:t>Lead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379476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ML +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1" y="1143000"/>
            <a:ext cx="210312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18103" y="1371600"/>
            <a:ext cx="1234440" cy="1234440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103" y="141732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78892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mbria"/>
              </a:rPr>
              <a:t>Chaninoizz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329184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9E75"/>
                </a:solidFill>
                <a:latin typeface="Calibri"/>
              </a:rPr>
              <a:t>Research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379476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PhenoAge Algorithm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2" y="1143000"/>
            <a:ext cx="210312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49823" y="1371600"/>
            <a:ext cx="1234440" cy="1234440"/>
          </a:xfrm>
          <a:prstGeom prst="roundRect">
            <a:avLst>
              <a:gd name="adj" fmla="val 5000"/>
            </a:avLst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9823" y="141732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JN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1" y="278892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mbria"/>
              </a:rPr>
              <a:t>Jinatta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1" y="329184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54F0B"/>
                </a:solidFill>
                <a:latin typeface="Calibri"/>
              </a:rPr>
              <a:t>Data Scientist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1" y="379476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NHANES + Mortality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42631" y="1143000"/>
            <a:ext cx="210312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81544" y="1371600"/>
            <a:ext cx="1234440" cy="1234440"/>
          </a:xfrm>
          <a:prstGeom prst="roundRect">
            <a:avLst>
              <a:gd name="adj" fmla="val 5000"/>
            </a:avLst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81544" y="141732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1" y="278892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mbria"/>
              </a:rPr>
              <a:t>nattakalim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1" y="329184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93C1D"/>
                </a:solidFill>
                <a:latin typeface="Calibri"/>
              </a:rPr>
              <a:t>Full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1" y="379476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Streamlit Demo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74352" y="1143000"/>
            <a:ext cx="210312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113264" y="1371600"/>
            <a:ext cx="1234440" cy="1234440"/>
          </a:xfrm>
          <a:prstGeom prst="roundRect">
            <a:avLst>
              <a:gd name="adj" fmla="val 5000"/>
            </a:avLst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13264" y="141732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PC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278892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mbria"/>
              </a:rPr>
              <a:t>Parichat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329184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B6D11"/>
                </a:solidFill>
                <a:latin typeface="Calibri"/>
              </a:rPr>
              <a:t>Business &amp;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379476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Pitch +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EpiGlass AI  —  True Innovation Launchpad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601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mbria"/>
              </a:rPr>
              <a:t>ข้อมูลมีอยู่แล้ว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2240280"/>
            <a:ext cx="4873752" cy="73152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mbria"/>
              </a:rPr>
              <a:t>True มีโครงสร้างอยู่แล้ว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D9E75"/>
                </a:solidFill>
                <a:latin typeface="Cambria"/>
              </a:rPr>
              <a:t>สิ่งที่ขาดคือตัวเชื่อมกลาง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>
                <a:solidFill>
                  <a:srgbClr val="FFFFFF"/>
                </a:solidFill>
                <a:latin typeface="Cambria"/>
              </a:rPr>
              <a:t>— และนั่นคือ EpiGlass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5074920"/>
            <a:ext cx="2496312" cy="1143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5148072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9E75"/>
                </a:solidFill>
                <a:latin typeface="Cambria"/>
              </a:rPr>
              <a:t>AUC 0.8827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5669280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Best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074920"/>
            <a:ext cx="2496312" cy="1143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5148072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9E75"/>
                </a:solidFill>
                <a:latin typeface="Cambria"/>
              </a:rPr>
              <a:t>p = 0.0004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669280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vs Levine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5074920"/>
            <a:ext cx="2496312" cy="1143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5148072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9E75"/>
                </a:solidFill>
                <a:latin typeface="Cambria"/>
              </a:rPr>
              <a:t>2,531 ราย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669280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NHANES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6355080"/>
            <a:ext cx="8531352" cy="411480"/>
          </a:xfrm>
          <a:prstGeom prst="roundRect">
            <a:avLst>
              <a:gd name="adj" fmla="val 5000"/>
            </a:avLst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6400800"/>
            <a:ext cx="8531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github.com/nattakalim-ux/bridge-ai-summit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